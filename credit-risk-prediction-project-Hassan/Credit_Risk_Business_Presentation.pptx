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" id="{535263be-976d-8664-8c65-1fcbebd83a59}">
          <p14:sldIdLst>
            <p14:sldId id="256"/>
            <p14:sldId id="257"/>
            <p14:sldId id="258"/>
          </p14:sldIdLst>
        </p14:section>
        <p14:section name="Analysis" id="{1a2173ab-656a-2a1b-2710-632a94a8e7ba}">
          <p14:sldIdLst>
            <p14:sldId id="259"/>
            <p14:sldId id="260"/>
          </p14:sldIdLst>
        </p14:section>
        <p14:section name="Modeling" id="{7d52a470-dc46-5fb5-ffa2-365cb7533c23}">
          <p14:sldIdLst>
            <p14:sldId id="261"/>
            <p14:sldId id="262"/>
            <p14:sldId id="263"/>
          </p14:sldIdLst>
        </p14:section>
        <p14:section name="Business impact" id="{d10ef3eb-266f-b6de-242a-92e033ab3f59}">
          <p14:sldIdLst>
            <p14:sldId id="264"/>
            <p14:sldId id="265"/>
            <p14:sldId id="266"/>
            <p14:sldId id="267"/>
          </p14:sldIdLst>
        </p14:section>
        <p14:section name="Wrap-up" id="{f980d7ef-c260-baa1-9037-3f621ba6f2ed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3"/>
                </a:solidFill>
                <a:latin typeface="+mn-lt"/>
              </a:rPr>
              <a:t>1,000 historic loans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Loans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6F9E"/>
              </a:solidFill>
              <a:effectLst/>
            </c:spPr>
          </c:dPt>
          <c:dPt>
            <c:idx val="1"/>
            <c:bubble3D val="0"/>
            <c:spPr>
              <a:solidFill>
                <a:srgbClr val="D1495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Good (non-default)</c:v>
                </c:pt>
                <c:pt idx="1">
                  <c:v>Default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700</c:v>
                </c:pt>
                <c:pt idx="1">
                  <c:v>300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3"/>
                </a:solidFill>
                <a:latin typeface="+mn-lt"/>
              </a:rPr>
              <a:t>Default rate by group (overall: 30%)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2E6F9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6F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6F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6F9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6F9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1495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1495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1495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1495B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No checking account</c:v>
                  </c:pt>
                  <c:pt idx="1">
                    <c:v>Credit history: critical</c:v>
                  </c:pt>
                  <c:pt idx="2">
                    <c:v>Owns real estate</c:v>
                  </c:pt>
                  <c:pt idx="3">
                    <c:v>Loan up to 12 months</c:v>
                  </c:pt>
                  <c:pt idx="4">
                    <c:v>Checking account on file</c:v>
                  </c:pt>
                  <c:pt idx="5">
                    <c:v>No property / unknown</c:v>
                  </c:pt>
                  <c:pt idx="6">
                    <c:v>Loan over 24 months</c:v>
                  </c:pt>
                  <c:pt idx="7">
                    <c:v>Credit history: fully repaid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0.116751269035533</c:v>
                </c:pt>
                <c:pt idx="1">
                  <c:v>0.17064846416382254</c:v>
                </c:pt>
                <c:pt idx="2">
                  <c:v>0.2127659574468085</c:v>
                </c:pt>
                <c:pt idx="3">
                  <c:v>0.2116991643454039</c:v>
                </c:pt>
                <c:pt idx="4">
                  <c:v>0.41914191419141916</c:v>
                </c:pt>
                <c:pt idx="5">
                  <c:v>0.43506493506493504</c:v>
                </c:pt>
                <c:pt idx="6">
                  <c:v>0.4434782608695652</c:v>
                </c:pt>
                <c:pt idx="7">
                  <c:v>0.625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B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b"/>
        <c:majorGridlines>
          <c:spPr>
            <a:ln w="6350" cap="flat">
              <a:solidFill>
                <a:srgbClr val="DDE2E8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3"/>
                </a:solidFill>
                <a:latin typeface="+mn-lt"/>
              </a:rPr>
              <a:t>Test-set performance at threshold 0.5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D1495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SVM (RBF)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</c:v>
                </c:pt>
                <c:pt idx="1">
                  <c:v>0.8667</c:v>
                </c:pt>
                <c:pt idx="2">
                  <c:v>0.7167</c:v>
                </c:pt>
                <c:pt idx="3">
                  <c:v>0.5333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E9A03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SVM (RBF)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0.6358</c:v>
                </c:pt>
                <c:pt idx="1">
                  <c:v>0.5683</c:v>
                </c:pt>
                <c:pt idx="2">
                  <c:v>0.6515</c:v>
                </c:pt>
                <c:pt idx="3">
                  <c:v>0.6154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2E6F9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SVM (RBF)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0.8035</c:v>
                </c:pt>
                <c:pt idx="1">
                  <c:v>0.697</c:v>
                </c:pt>
                <c:pt idx="2">
                  <c:v>0.8048</c:v>
                </c:pt>
                <c:pt idx="3">
                  <c:v>0.829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DE2E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3"/>
                </a:solidFill>
                <a:latin typeface="+mn-lt"/>
              </a:rPr>
              <a:t>Cross-validated selection score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Selection score</c:v>
                </c:pt>
              </c:strCache>
            </c:strRef>
          </c:tx>
          <c:spPr>
            <a:solidFill>
              <a:srgbClr val="B8C0C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C0C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C0C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C0C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6F9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SVM (RBF)</c:v>
                  </c:pt>
                  <c:pt idx="1">
                    <c:v>Random Forest</c:v>
                  </c:pt>
                  <c:pt idx="2">
                    <c:v>Decision Tree</c:v>
                  </c:pt>
                  <c:pt idx="3">
                    <c:v>Logistic Regression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0.5499</c:v>
                </c:pt>
                <c:pt idx="1">
                  <c:v>0.6798</c:v>
                </c:pt>
                <c:pt idx="2">
                  <c:v>0.6811</c:v>
                </c:pt>
                <c:pt idx="3">
                  <c:v>0.6926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b"/>
        <c:majorGridlines>
          <c:spPr>
            <a:ln w="6350" cap="flat">
              <a:solidFill>
                <a:srgbClr val="DDE2E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433"/>
                </a:solidFill>
                <a:latin typeface="+mn-lt"/>
              </a:rPr>
              <a:t>Cut-off = reject if default probability is at or above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(defaults caught)</c:v>
                </c:pt>
              </c:strCache>
            </c:strRef>
          </c:tx>
          <c:spPr>
            <a:solidFill>
              <a:srgbClr val="D1495B"/>
            </a:solidFill>
            <a:ln w="31750" cap="flat">
              <a:solidFill>
                <a:srgbClr val="D149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1495B"/>
              </a:solidFill>
              <a:ln w="9525" cap="flat">
                <a:solidFill>
                  <a:srgbClr val="D149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0.05</c:v>
                  </c:pt>
                  <c:pt idx="1">
                    <c:v>0.10</c:v>
                  </c:pt>
                  <c:pt idx="2">
                    <c:v>0.15</c:v>
                  </c:pt>
                  <c:pt idx="3">
                    <c:v>0.20</c:v>
                  </c:pt>
                  <c:pt idx="4">
                    <c:v>0.25</c:v>
                  </c:pt>
                  <c:pt idx="5">
                    <c:v>0.30</c:v>
                  </c:pt>
                  <c:pt idx="6">
                    <c:v>0.35</c:v>
                  </c:pt>
                  <c:pt idx="7">
                    <c:v>0.40</c:v>
                  </c:pt>
                  <c:pt idx="8">
                    <c:v>0.45</c:v>
                  </c:pt>
                  <c:pt idx="9">
                    <c:v>0.50</c:v>
                  </c:pt>
                  <c:pt idx="10">
                    <c:v>0.55</c:v>
                  </c:pt>
                  <c:pt idx="11">
                    <c:v>0.60</c:v>
                  </c:pt>
                  <c:pt idx="12">
                    <c:v>0.65</c:v>
                  </c:pt>
                  <c:pt idx="13">
                    <c:v>0.70</c:v>
                  </c:pt>
                  <c:pt idx="14">
                    <c:v>0.75</c:v>
                  </c:pt>
                  <c:pt idx="15">
                    <c:v>0.80</c:v>
                  </c:pt>
                  <c:pt idx="16">
                    <c:v>0.85</c:v>
                  </c:pt>
                  <c:pt idx="17">
                    <c:v>0.90</c:v>
                  </c:pt>
                  <c:pt idx="18">
                    <c:v>0.95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0.9958</c:v>
                </c:pt>
                <c:pt idx="4">
                  <c:v>0.9875</c:v>
                </c:pt>
                <c:pt idx="5">
                  <c:v>0.9542</c:v>
                </c:pt>
                <c:pt idx="6">
                  <c:v>0.9333</c:v>
                </c:pt>
                <c:pt idx="7">
                  <c:v>0.875</c:v>
                </c:pt>
                <c:pt idx="8">
                  <c:v>0.8042</c:v>
                </c:pt>
                <c:pt idx="9">
                  <c:v>0.7292</c:v>
                </c:pt>
                <c:pt idx="10">
                  <c:v>0.6208</c:v>
                </c:pt>
                <c:pt idx="11">
                  <c:v>0.45</c:v>
                </c:pt>
                <c:pt idx="12">
                  <c:v>0.2917</c:v>
                </c:pt>
                <c:pt idx="13">
                  <c:v>0.15</c:v>
                </c:pt>
                <c:pt idx="14">
                  <c:v>0.0458</c:v>
                </c:pt>
                <c:pt idx="15">
                  <c:v>0.0125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E9A03B"/>
            </a:solidFill>
            <a:ln w="31750" cap="flat">
              <a:solidFill>
                <a:srgbClr val="E9A0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9A03B"/>
              </a:solidFill>
              <a:ln w="9525" cap="flat">
                <a:solidFill>
                  <a:srgbClr val="E9A0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0.05</c:v>
                  </c:pt>
                  <c:pt idx="1">
                    <c:v>0.10</c:v>
                  </c:pt>
                  <c:pt idx="2">
                    <c:v>0.15</c:v>
                  </c:pt>
                  <c:pt idx="3">
                    <c:v>0.20</c:v>
                  </c:pt>
                  <c:pt idx="4">
                    <c:v>0.25</c:v>
                  </c:pt>
                  <c:pt idx="5">
                    <c:v>0.30</c:v>
                  </c:pt>
                  <c:pt idx="6">
                    <c:v>0.35</c:v>
                  </c:pt>
                  <c:pt idx="7">
                    <c:v>0.40</c:v>
                  </c:pt>
                  <c:pt idx="8">
                    <c:v>0.45</c:v>
                  </c:pt>
                  <c:pt idx="9">
                    <c:v>0.50</c:v>
                  </c:pt>
                  <c:pt idx="10">
                    <c:v>0.55</c:v>
                  </c:pt>
                  <c:pt idx="11">
                    <c:v>0.60</c:v>
                  </c:pt>
                  <c:pt idx="12">
                    <c:v>0.65</c:v>
                  </c:pt>
                  <c:pt idx="13">
                    <c:v>0.70</c:v>
                  </c:pt>
                  <c:pt idx="14">
                    <c:v>0.75</c:v>
                  </c:pt>
                  <c:pt idx="15">
                    <c:v>0.80</c:v>
                  </c:pt>
                  <c:pt idx="16">
                    <c:v>0.85</c:v>
                  </c:pt>
                  <c:pt idx="17">
                    <c:v>0.90</c:v>
                  </c:pt>
                  <c:pt idx="18">
                    <c:v>0.95</c:v>
                  </c:pt>
                </c:lvl>
              </c:multiLvlStrCache>
            </c:multiLvl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0.4615</c:v>
                </c:pt>
                <c:pt idx="1">
                  <c:v>0.4615</c:v>
                </c:pt>
                <c:pt idx="2">
                  <c:v>0.4629</c:v>
                </c:pt>
                <c:pt idx="3">
                  <c:v>0.4663</c:v>
                </c:pt>
                <c:pt idx="4">
                  <c:v>0.4857</c:v>
                </c:pt>
                <c:pt idx="5">
                  <c:v>0.5083</c:v>
                </c:pt>
                <c:pt idx="6">
                  <c:v>0.5463</c:v>
                </c:pt>
                <c:pt idx="7">
                  <c:v>0.5615</c:v>
                </c:pt>
                <c:pt idx="8">
                  <c:v>0.5753</c:v>
                </c:pt>
                <c:pt idx="9">
                  <c:v>0.5804</c:v>
                </c:pt>
                <c:pt idx="10">
                  <c:v>0.5731</c:v>
                </c:pt>
                <c:pt idx="11">
                  <c:v>0.5106</c:v>
                </c:pt>
                <c:pt idx="12">
                  <c:v>0.4082</c:v>
                </c:pt>
                <c:pt idx="13">
                  <c:v>0.25</c:v>
                </c:pt>
                <c:pt idx="14">
                  <c:v>0.0863</c:v>
                </c:pt>
                <c:pt idx="15">
                  <c:v>0.0247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Good customers rejected</c:v>
                </c:pt>
              </c:strCache>
            </c:strRef>
          </c:tx>
          <c:spPr>
            <a:solidFill>
              <a:srgbClr val="2E6F9E"/>
            </a:solidFill>
            <a:ln w="31750" cap="flat">
              <a:solidFill>
                <a:srgbClr val="2E6F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6F9E"/>
              </a:solidFill>
              <a:ln w="9525" cap="flat">
                <a:solidFill>
                  <a:srgbClr val="2E6F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0.05</c:v>
                  </c:pt>
                  <c:pt idx="1">
                    <c:v>0.10</c:v>
                  </c:pt>
                  <c:pt idx="2">
                    <c:v>0.15</c:v>
                  </c:pt>
                  <c:pt idx="3">
                    <c:v>0.20</c:v>
                  </c:pt>
                  <c:pt idx="4">
                    <c:v>0.25</c:v>
                  </c:pt>
                  <c:pt idx="5">
                    <c:v>0.30</c:v>
                  </c:pt>
                  <c:pt idx="6">
                    <c:v>0.35</c:v>
                  </c:pt>
                  <c:pt idx="7">
                    <c:v>0.40</c:v>
                  </c:pt>
                  <c:pt idx="8">
                    <c:v>0.45</c:v>
                  </c:pt>
                  <c:pt idx="9">
                    <c:v>0.50</c:v>
                  </c:pt>
                  <c:pt idx="10">
                    <c:v>0.55</c:v>
                  </c:pt>
                  <c:pt idx="11">
                    <c:v>0.60</c:v>
                  </c:pt>
                  <c:pt idx="12">
                    <c:v>0.65</c:v>
                  </c:pt>
                  <c:pt idx="13">
                    <c:v>0.70</c:v>
                  </c:pt>
                  <c:pt idx="14">
                    <c:v>0.75</c:v>
                  </c:pt>
                  <c:pt idx="15">
                    <c:v>0.80</c:v>
                  </c:pt>
                  <c:pt idx="16">
                    <c:v>0.85</c:v>
                  </c:pt>
                  <c:pt idx="17">
                    <c:v>0.90</c:v>
                  </c:pt>
                  <c:pt idx="18">
                    <c:v>0.95</c:v>
                  </c:pt>
                </c:lvl>
              </c:multiLvlStrCache>
            </c:multiLvl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1</c:v>
                </c:pt>
                <c:pt idx="1">
                  <c:v>1</c:v>
                </c:pt>
                <c:pt idx="2">
                  <c:v>0.9946</c:v>
                </c:pt>
                <c:pt idx="3">
                  <c:v>0.975</c:v>
                </c:pt>
                <c:pt idx="4">
                  <c:v>0.8911</c:v>
                </c:pt>
                <c:pt idx="5">
                  <c:v>0.7714</c:v>
                </c:pt>
                <c:pt idx="6">
                  <c:v>0.6357</c:v>
                </c:pt>
                <c:pt idx="7">
                  <c:v>0.5321</c:v>
                </c:pt>
                <c:pt idx="8">
                  <c:v>0.425</c:v>
                </c:pt>
                <c:pt idx="9">
                  <c:v>0.3357</c:v>
                </c:pt>
                <c:pt idx="10">
                  <c:v>0.2339</c:v>
                </c:pt>
                <c:pt idx="11">
                  <c:v>0.1339</c:v>
                </c:pt>
                <c:pt idx="12">
                  <c:v>0.0589</c:v>
                </c:pt>
                <c:pt idx="13">
                  <c:v>0.0214</c:v>
                </c:pt>
                <c:pt idx="14">
                  <c:v>0.0071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DE2E8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24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3"/>
                </a:solidFill>
                <a:latin typeface="+mn-lt"/>
              </a:rPr>
              <a:t>Bad-debt ratio of approved loans (by value)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Bad-debt ratio</c:v>
                </c:pt>
              </c:strCache>
            </c:strRef>
          </c:tx>
          <c:spPr>
            <a:solidFill>
              <a:srgbClr val="7A8591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859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6F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1495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No model</c:v>
                  </c:pt>
                  <c:pt idx="1">
                    <c:v>Balanced</c:v>
                  </c:pt>
                  <c:pt idx="2">
                    <c:v>Strict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0.38911455908613996</c:v>
                </c:pt>
                <c:pt idx="1">
                  <c:v>0.16578707998234823</c:v>
                </c:pt>
                <c:pt idx="2">
                  <c:v>0.06740071937165089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1B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DDE2E8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3"/>
                </a:solidFill>
                <a:latin typeface="+mn-lt"/>
              </a:rPr>
              <a:t>Drop in AUC when the factor is shuffled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E6F9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Savings account on file</c:v>
                  </c:pt>
                  <c:pt idx="1">
                    <c:v>Credit history</c:v>
                  </c:pt>
                  <c:pt idx="2">
                    <c:v>Installment rate</c:v>
                  </c:pt>
                  <c:pt idx="3">
                    <c:v>Loan purpose</c:v>
                  </c:pt>
                  <c:pt idx="4">
                    <c:v>Loan duration</c:v>
                  </c:pt>
                  <c:pt idx="5">
                    <c:v>Checking account on file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0.0111</c:v>
                </c:pt>
                <c:pt idx="1">
                  <c:v>0.0121</c:v>
                </c:pt>
                <c:pt idx="2">
                  <c:v>0.0148</c:v>
                </c:pt>
                <c:pt idx="3">
                  <c:v>0.0171</c:v>
                </c:pt>
                <c:pt idx="4">
                  <c:v>0.0405</c:v>
                </c:pt>
                <c:pt idx="5">
                  <c:v>0.128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6"/>
          <c:min val="0"/>
        </c:scaling>
        <c:delete val="0"/>
        <c:axPos val="b"/>
        <c:majorGridlines>
          <c:spPr>
            <a:ln w="6350" cap="flat">
              <a:solidFill>
                <a:srgbClr val="DDE2E8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3"/>
                </a:solidFill>
                <a:latin typeface="+mn-lt"/>
              </a:rPr>
              <a:t>Share of applicants in each lane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applicants</c:v>
                </c:pt>
              </c:strCache>
            </c:strRef>
          </c:tx>
          <c:spPr>
            <a:solidFill>
              <a:srgbClr val="2E6F9E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6F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A03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1495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Auto-approve</c:v>
                  </c:pt>
                  <c:pt idx="1">
                    <c:v>Manual review</c:v>
                  </c:pt>
                  <c:pt idx="2">
                    <c:v>Auto-reject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0.41</c:v>
                </c:pt>
                <c:pt idx="1">
                  <c:v>0.365</c:v>
                </c:pt>
                <c:pt idx="2">
                  <c:v>0.225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1B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6350" cap="flat">
              <a:solidFill>
                <a:srgbClr val="DDE2E8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3"/>
                </a:solidFill>
                <a:latin typeface="+mn-lt"/>
              </a:rPr>
              <a:t>Good customers wrongly rejected, by group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Good customers wrongly rejected</c:v>
                </c:pt>
              </c:strCache>
            </c:strRef>
          </c:tx>
          <c:spPr>
            <a:solidFill>
              <a:srgbClr val="2E6F9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Age 50+</c:v>
                  </c:pt>
                  <c:pt idx="1">
                    <c:v>Age 36-50</c:v>
                  </c:pt>
                  <c:pt idx="2">
                    <c:v>Age 26-35</c:v>
                  </c:pt>
                  <c:pt idx="3">
                    <c:v>Age up to 25</c:v>
                  </c:pt>
                  <c:pt idx="4">
                    <c:v>Male</c:v>
                  </c:pt>
                  <c:pt idx="5">
                    <c:v>Female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0.458</c:v>
                </c:pt>
                <c:pt idx="1">
                  <c:v>0.362</c:v>
                </c:pt>
                <c:pt idx="2">
                  <c:v>0.6</c:v>
                </c:pt>
                <c:pt idx="3">
                  <c:v>0.583</c:v>
                </c:pt>
                <c:pt idx="4">
                  <c:v>0.505</c:v>
                </c:pt>
                <c:pt idx="5">
                  <c:v>0.463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B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b"/>
        <c:majorGridlines>
          <c:spPr>
            <a:ln w="6350" cap="flat">
              <a:solidFill>
                <a:srgbClr val="DDE2E8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 of the deck: show management how a predictive model can reduce bad debt, what it costs in rejected customers, and how we recommend deploying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200 held-out applicants the Logistic Regression model, at the balanced cut-off of 0.44, catches 85% of defaults. Bad-debt ratio by value falls from 38.9% to 16.6%. The price is that 49% of good customers would be declined if the model were used as an automatic gate, which is why we recommend routing the middle band to credit officers.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model that approves everybody is 70% accurate but catches no defaults. That is why recall, F1 and AUC-ROC are the success measures. Data: 1,000 historic applicants, 23 columns, target 'default'.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 rates by group (training data = all 1,000 rows). Applicants with no checking account on file default at 12% versus 42%; missing is a signal, not noise. Longer loans (over 24 months, n=230) default at 44% versus 21% for loans up to 12 months (n=359). No single numeric feature has a correlation with default above 0.21, so a multivariate model is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steps are fitted on the training set only, inside a pipeline, to avoid data leakage. Stratified 80/20 split keeps the 30% default rate in both 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Held-out test set, 200 applicants, threshold 0.5. Test differences between models are small relative to the sampling noise (the AUC 95% interval is roughly +/-0.07), so we selected the model using cross-validation on the training data, not the test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Selection rule decided before looking at the test set: highest average of Recall, F1 and AUC in 5-fold cross-validation on the training data. Logistic Regression wins, and it is also the easiest model to explain to credit officers and regulators.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cut-offs were set on training cross-validation predictions, never on the test set. Balanced = maximise F1 subject to recall of at least 80% (cut-off 0.44). Strict = minimise monetary loss assuming a lost default costs 100% of principal and a rejected good loan costs a 10% margin (cut-off 0.28); the margin is an assumption, not in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set of 200 applicants with their actual loan amounts. Defaulted principal in the approved book: 280,001 with no model versus 36,817 under the balanced policy (units as in the dataset). Net benefit versus no model is 217,751 assuming 100% loss on default and a 10% margin; it is sensitive to those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Permutation importance on the test set: drop in AUC when a feature is shuffled. 'Checking account on file' reflects the missing-value pattern: applicants with no checking balance recorded default far less often. The meaning of the missing value should be confirmed with the data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Cut-offs set on training cross-validation scores: auto-approve at or below 0.44 (observed default rate at most 12%), auto-reject at or above 0.62 (observed default rate at least 60%). Results shown are on the 200 test applicants.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Gender and marital status are not model inputs. Adding them changed test AUC from 0.803 (without) to 0.798 (with), so they add no accuracy. Audit on 200 test applicants: group sizes are small (29 to 139), so gaps of a few points are not conclusive. Younger applicants are rejected more, partly because their actual default rate is higher (45% for age 25 and under versus 17% for 50+); compliance should review whether age may be used in the applicable jurisdiction.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management to approve a pilot of the three-lane process and to supply real margin and recovery figures so the cut-off can be re-set from the bank's own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the monetary results rest on assumed loss-given-default and margin, and that the test set is small.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Credit Risk Prediction &amp; Default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Credit Risk Prediction &amp; Default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dot 1"/>
          <p:cNvSpPr/>
          <p:nvPr/>
        </p:nvSpPr>
        <p:spPr>
          <a:xfrm>
            <a:off x="6583680" y="914400"/>
            <a:ext cx="1005840" cy="1005840"/>
          </a:xfrm>
          <a:prstGeom prst="ellipse">
            <a:avLst/>
          </a:prstGeom>
          <a:solidFill>
            <a:srgbClr val="2E6F9E">
              <a:alpha val="85000"/>
            </a:srgbClr>
          </a:solidFill>
          <a:ln w="12700">
            <a:solidFill>
              <a:srgbClr val="2E6F9E">
                <a:alpha val="85000"/>
              </a:srgbClr>
            </a:solidFill>
            <a:prstDash val="solid"/>
          </a:ln>
        </p:spPr>
      </p:sp>
      <p:sp>
        <p:nvSpPr>
          <p:cNvPr id="3" name="Motif dot 2"/>
          <p:cNvSpPr/>
          <p:nvPr/>
        </p:nvSpPr>
        <p:spPr>
          <a:xfrm>
            <a:off x="7406640" y="1737360"/>
            <a:ext cx="731520" cy="731520"/>
          </a:xfrm>
          <a:prstGeom prst="ellipse">
            <a:avLst/>
          </a:prstGeom>
          <a:solidFill>
            <a:srgbClr val="D1495B">
              <a:alpha val="85000"/>
            </a:srgbClr>
          </a:solidFill>
          <a:ln w="12700">
            <a:solidFill>
              <a:srgbClr val="D1495B">
                <a:alpha val="85000"/>
              </a:srgbClr>
            </a:solidFill>
            <a:prstDash val="solid"/>
          </a:ln>
        </p:spPr>
      </p:sp>
      <p:sp>
        <p:nvSpPr>
          <p:cNvPr id="4" name="Motif dot 3"/>
          <p:cNvSpPr/>
          <p:nvPr/>
        </p:nvSpPr>
        <p:spPr>
          <a:xfrm>
            <a:off x="6400800" y="2468880"/>
            <a:ext cx="502920" cy="502920"/>
          </a:xfrm>
          <a:prstGeom prst="ellipse">
            <a:avLst/>
          </a:prstGeom>
          <a:solidFill>
            <a:srgbClr val="E9A03B">
              <a:alpha val="85000"/>
            </a:srgbClr>
          </a:solidFill>
          <a:ln w="12700">
            <a:solidFill>
              <a:srgbClr val="E9A03B">
                <a:alpha val="85000"/>
              </a:srgbClr>
            </a:solidFill>
            <a:prstDash val="solid"/>
          </a:ln>
        </p:spPr>
      </p:sp>
      <p:sp>
        <p:nvSpPr>
          <p:cNvPr id="5" name="Motif dot 4"/>
          <p:cNvSpPr/>
          <p:nvPr/>
        </p:nvSpPr>
        <p:spPr>
          <a:xfrm>
            <a:off x="7863840" y="3108960"/>
            <a:ext cx="365760" cy="365760"/>
          </a:xfrm>
          <a:prstGeom prst="ellipse">
            <a:avLst/>
          </a:prstGeom>
          <a:solidFill>
            <a:srgbClr val="2E6F9E">
              <a:alpha val="85000"/>
            </a:srgbClr>
          </a:solidFill>
          <a:ln w="12700">
            <a:solidFill>
              <a:srgbClr val="2E6F9E">
                <a:alpha val="85000"/>
              </a:srgbClr>
            </a:solidFill>
            <a:prstDash val="solid"/>
          </a:ln>
        </p:spPr>
      </p:sp>
      <p:sp>
        <p:nvSpPr>
          <p:cNvPr id="6" name="Deck title"/>
          <p:cNvSpPr txBox="1"/>
          <p:nvPr/>
        </p:nvSpPr>
        <p:spPr>
          <a:xfrm>
            <a:off x="548640" y="123444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Risk Prediction &amp; Default Analysis</a:t>
            </a:r>
            <a:endParaRPr lang="en-US" sz="3800" dirty="0"/>
          </a:p>
        </p:txBody>
      </p:sp>
      <p:sp>
        <p:nvSpPr>
          <p:cNvPr id="7" name="Deck subtitle"/>
          <p:cNvSpPr txBox="1"/>
          <p:nvPr/>
        </p:nvSpPr>
        <p:spPr>
          <a:xfrm>
            <a:off x="54864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Finding risky loans before they are approved, without turning good customers away</a:t>
            </a:r>
            <a:endParaRPr lang="en-US" sz="1800" dirty="0"/>
          </a:p>
        </p:txBody>
      </p:sp>
      <p:sp>
        <p:nvSpPr>
          <p:cNvPr id="8" name="Deck byline"/>
          <p:cNvSpPr txBox="1"/>
          <p:nvPr/>
        </p:nvSpPr>
        <p:spPr>
          <a:xfrm>
            <a:off x="548640" y="4297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8"/>
                </a:solidFill>
              </a:rPr>
              <a:t>Business presentation for bank management  |  Machine Learning Analyst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model cuts bad debt by more than half</a:t>
            </a:r>
            <a:endParaRPr lang="en-US" sz="3000" dirty="0"/>
          </a:p>
        </p:txBody>
      </p:sp>
      <p:sp>
        <p:nvSpPr>
          <p:cNvPr id="4" name="Recall card"/>
          <p:cNvSpPr/>
          <p:nvPr/>
        </p:nvSpPr>
        <p:spPr>
          <a:xfrm>
            <a:off x="457200" y="1280160"/>
            <a:ext cx="2560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Recall value"/>
          <p:cNvSpPr txBox="1"/>
          <p:nvPr/>
        </p:nvSpPr>
        <p:spPr>
          <a:xfrm>
            <a:off x="594360" y="1371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14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3200" dirty="0"/>
          </a:p>
        </p:txBody>
      </p:sp>
      <p:sp>
        <p:nvSpPr>
          <p:cNvPr id="6" name="Recall label"/>
          <p:cNvSpPr txBox="1"/>
          <p:nvPr/>
        </p:nvSpPr>
        <p:spPr>
          <a:xfrm>
            <a:off x="594360" y="20345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defaulting loans caught before approval</a:t>
            </a:r>
            <a:endParaRPr lang="en-US" sz="1300" dirty="0"/>
          </a:p>
        </p:txBody>
      </p:sp>
      <p:sp>
        <p:nvSpPr>
          <p:cNvPr id="7" name="Bad debt card"/>
          <p:cNvSpPr/>
          <p:nvPr/>
        </p:nvSpPr>
        <p:spPr>
          <a:xfrm>
            <a:off x="3291840" y="1280160"/>
            <a:ext cx="2560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ad debt value"/>
          <p:cNvSpPr txBox="1"/>
          <p:nvPr/>
        </p:nvSpPr>
        <p:spPr>
          <a:xfrm>
            <a:off x="3429000" y="1371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6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39% → 17%</a:t>
            </a:r>
            <a:endParaRPr lang="en-US" sz="3200" dirty="0"/>
          </a:p>
        </p:txBody>
      </p:sp>
      <p:sp>
        <p:nvSpPr>
          <p:cNvPr id="9" name="Bad debt label"/>
          <p:cNvSpPr txBox="1"/>
          <p:nvPr/>
        </p:nvSpPr>
        <p:spPr>
          <a:xfrm>
            <a:off x="3429000" y="20345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bad-debt ratio of approved loans (by value)</a:t>
            </a:r>
            <a:endParaRPr lang="en-US" sz="1300" dirty="0"/>
          </a:p>
        </p:txBody>
      </p:sp>
      <p:sp>
        <p:nvSpPr>
          <p:cNvPr id="10" name="Auto card"/>
          <p:cNvSpPr/>
          <p:nvPr/>
        </p:nvSpPr>
        <p:spPr>
          <a:xfrm>
            <a:off x="6126480" y="1280160"/>
            <a:ext cx="2560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Auto value"/>
          <p:cNvSpPr txBox="1"/>
          <p:nvPr/>
        </p:nvSpPr>
        <p:spPr>
          <a:xfrm>
            <a:off x="6263640" y="1371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C9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63.5%</a:t>
            </a:r>
            <a:endParaRPr lang="en-US" sz="3200" dirty="0"/>
          </a:p>
        </p:txBody>
      </p:sp>
      <p:sp>
        <p:nvSpPr>
          <p:cNvPr id="12" name="Auto label"/>
          <p:cNvSpPr txBox="1"/>
          <p:nvPr/>
        </p:nvSpPr>
        <p:spPr>
          <a:xfrm>
            <a:off x="6263640" y="20345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applications can be decided instantly</a:t>
            </a:r>
            <a:endParaRPr lang="en-US" sz="1300" dirty="0"/>
          </a:p>
        </p:txBody>
      </p:sp>
      <p:sp>
        <p:nvSpPr>
          <p:cNvPr id="13" name="Recommendation text"/>
          <p:cNvSpPr txBox="1"/>
          <p:nvPr/>
        </p:nvSpPr>
        <p:spPr>
          <a:xfrm>
            <a:off x="457200" y="28803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we recommend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Deploy the Logistic Regression model as a risk score with three lanes: auto-approve, manual review, auto-reject.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Expect a trade-off: higher recall means more good applicants are reviewed or declined. The cut-off is a policy lever the bank controls.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Leave gender and marital status out of the model; it is just as accurate without them.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30% of loans default, so accuracy misleads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36576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Recall card"/>
          <p:cNvSpPr/>
          <p:nvPr/>
        </p:nvSpPr>
        <p:spPr>
          <a:xfrm>
            <a:off x="4389120" y="1280160"/>
            <a:ext cx="429768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Recall marker"/>
          <p:cNvSpPr/>
          <p:nvPr/>
        </p:nvSpPr>
        <p:spPr>
          <a:xfrm>
            <a:off x="4526280" y="1517904"/>
            <a:ext cx="457200" cy="45720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7" name="Recall text"/>
          <p:cNvSpPr txBox="1"/>
          <p:nvPr/>
        </p:nvSpPr>
        <p:spPr>
          <a:xfrm>
            <a:off x="5166360" y="1335024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Recall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missed default (false negative) costs the whole loan principal, so catching defaults is the priority.</a:t>
            </a:r>
            <a:endParaRPr lang="en-US" sz="1600" dirty="0"/>
          </a:p>
        </p:txBody>
      </p:sp>
      <p:sp>
        <p:nvSpPr>
          <p:cNvPr id="8" name="F1-score card"/>
          <p:cNvSpPr/>
          <p:nvPr/>
        </p:nvSpPr>
        <p:spPr>
          <a:xfrm>
            <a:off x="4389120" y="2359152"/>
            <a:ext cx="429768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1-score marker"/>
          <p:cNvSpPr/>
          <p:nvPr/>
        </p:nvSpPr>
        <p:spPr>
          <a:xfrm>
            <a:off x="4526280" y="2596896"/>
            <a:ext cx="457200" cy="457200"/>
          </a:xfrm>
          <a:prstGeom prst="ellipse">
            <a:avLst/>
          </a:prstGeom>
          <a:solidFill>
            <a:srgbClr val="E9A03B"/>
          </a:solidFill>
          <a:ln w="12700">
            <a:solidFill>
              <a:srgbClr val="E9A03B"/>
            </a:solidFill>
            <a:prstDash val="solid"/>
          </a:ln>
        </p:spPr>
      </p:sp>
      <p:sp>
        <p:nvSpPr>
          <p:cNvPr id="10" name="F1-score text"/>
          <p:cNvSpPr txBox="1"/>
          <p:nvPr/>
        </p:nvSpPr>
        <p:spPr>
          <a:xfrm>
            <a:off x="5166360" y="2414016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F1-score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Balances losing a good customer (false positive) against approving a bad loan.</a:t>
            </a:r>
            <a:endParaRPr lang="en-US" sz="1600" dirty="0"/>
          </a:p>
        </p:txBody>
      </p:sp>
      <p:sp>
        <p:nvSpPr>
          <p:cNvPr id="11" name="AUC-ROC card"/>
          <p:cNvSpPr/>
          <p:nvPr/>
        </p:nvSpPr>
        <p:spPr>
          <a:xfrm>
            <a:off x="4389120" y="3438144"/>
            <a:ext cx="429768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UC-ROC marker"/>
          <p:cNvSpPr/>
          <p:nvPr/>
        </p:nvSpPr>
        <p:spPr>
          <a:xfrm>
            <a:off x="4526280" y="3675888"/>
            <a:ext cx="457200" cy="457200"/>
          </a:xfrm>
          <a:prstGeom prst="ellipse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3" name="AUC-ROC text"/>
          <p:cNvSpPr txBox="1"/>
          <p:nvPr/>
        </p:nvSpPr>
        <p:spPr>
          <a:xfrm>
            <a:off x="5166360" y="349300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AUC-ROC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Shows how well the model separates good from bad applicants at every cut-off.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Who defaults? Clear patterns emerge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EDA findings"/>
          <p:cNvSpPr txBox="1"/>
          <p:nvPr/>
        </p:nvSpPr>
        <p:spPr>
          <a:xfrm>
            <a:off x="5669280" y="123444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Missing data is informative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No checking account on file: 12% default vs 42% with one. We keep it as a flag instead of filling it in.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Loan terms and history matter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Longer loans and a weaker asset base default more often.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 single rule is enough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numeric feature has |correlation| below 0.21 with default, so we combine many signals.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Data was cleaned without losing signal</a:t>
            </a:r>
            <a:endParaRPr lang="en-US" sz="3000" dirty="0"/>
          </a:p>
        </p:txBody>
      </p:sp>
      <p:sp>
        <p:nvSpPr>
          <p:cNvPr id="4" name="Step 1 card"/>
          <p:cNvSpPr/>
          <p:nvPr/>
        </p:nvSpPr>
        <p:spPr>
          <a:xfrm>
            <a:off x="457200" y="1371600"/>
            <a:ext cx="1920240" cy="23774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ep 1 badge"/>
          <p:cNvSpPr/>
          <p:nvPr/>
        </p:nvSpPr>
        <p:spPr>
          <a:xfrm>
            <a:off x="594360" y="1508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tep 1 number"/>
          <p:cNvSpPr txBox="1"/>
          <p:nvPr/>
        </p:nvSpPr>
        <p:spPr>
          <a:xfrm>
            <a:off x="5943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tep 1 text"/>
          <p:cNvSpPr txBox="1"/>
          <p:nvPr/>
        </p:nvSpPr>
        <p:spPr>
          <a:xfrm>
            <a:off x="594360" y="21031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Parse &amp; flag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Text durations ('13 years') became months. Missing balances and phone became has-account flags.</a:t>
            </a:r>
            <a:endParaRPr lang="en-US" sz="1600" dirty="0"/>
          </a:p>
        </p:txBody>
      </p:sp>
      <p:sp>
        <p:nvSpPr>
          <p:cNvPr id="8" name="Step 2 card"/>
          <p:cNvSpPr/>
          <p:nvPr/>
        </p:nvSpPr>
        <p:spPr>
          <a:xfrm>
            <a:off x="2542032" y="1371600"/>
            <a:ext cx="1920240" cy="23774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ep 2 badge"/>
          <p:cNvSpPr/>
          <p:nvPr/>
        </p:nvSpPr>
        <p:spPr>
          <a:xfrm>
            <a:off x="2679192" y="1508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tep 2 number"/>
          <p:cNvSpPr txBox="1"/>
          <p:nvPr/>
        </p:nvSpPr>
        <p:spPr>
          <a:xfrm>
            <a:off x="2679192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Step 2 text"/>
          <p:cNvSpPr txBox="1"/>
          <p:nvPr/>
        </p:nvSpPr>
        <p:spPr>
          <a:xfrm>
            <a:off x="2679192" y="21031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Tame outliers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Log transform for loan amount and savings; cap one extreme checking balance at the 99th percentile.</a:t>
            </a:r>
            <a:endParaRPr lang="en-US" sz="1600" dirty="0"/>
          </a:p>
        </p:txBody>
      </p:sp>
      <p:sp>
        <p:nvSpPr>
          <p:cNvPr id="12" name="Step 3 card"/>
          <p:cNvSpPr/>
          <p:nvPr/>
        </p:nvSpPr>
        <p:spPr>
          <a:xfrm>
            <a:off x="4626864" y="1371600"/>
            <a:ext cx="1920240" cy="23774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ep 3 badge"/>
          <p:cNvSpPr/>
          <p:nvPr/>
        </p:nvSpPr>
        <p:spPr>
          <a:xfrm>
            <a:off x="4764024" y="1508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tep 3 number"/>
          <p:cNvSpPr txBox="1"/>
          <p:nvPr/>
        </p:nvSpPr>
        <p:spPr>
          <a:xfrm>
            <a:off x="4764024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Step 3 text"/>
          <p:cNvSpPr txBox="1"/>
          <p:nvPr/>
        </p:nvSpPr>
        <p:spPr>
          <a:xfrm>
            <a:off x="4764024" y="21031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Encode &amp; scale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Missing numbers filled with the median, categories one-hot encoded, numbers standardised.</a:t>
            </a:r>
            <a:endParaRPr lang="en-US" sz="1600" dirty="0"/>
          </a:p>
        </p:txBody>
      </p:sp>
      <p:sp>
        <p:nvSpPr>
          <p:cNvPr id="16" name="Step 4 card"/>
          <p:cNvSpPr/>
          <p:nvPr/>
        </p:nvSpPr>
        <p:spPr>
          <a:xfrm>
            <a:off x="6711696" y="1371600"/>
            <a:ext cx="1920240" cy="23774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tep 4 badge"/>
          <p:cNvSpPr/>
          <p:nvPr/>
        </p:nvSpPr>
        <p:spPr>
          <a:xfrm>
            <a:off x="6848856" y="1508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tep 4 number"/>
          <p:cNvSpPr txBox="1"/>
          <p:nvPr/>
        </p:nvSpPr>
        <p:spPr>
          <a:xfrm>
            <a:off x="6848856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Step 4 text"/>
          <p:cNvSpPr txBox="1"/>
          <p:nvPr/>
        </p:nvSpPr>
        <p:spPr>
          <a:xfrm>
            <a:off x="6848856" y="21031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Split fairly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Stratified 80/20 train/test split; imbalance handled with balanced class weights.</a:t>
            </a:r>
            <a:endParaRPr lang="en-US" sz="1600" dirty="0"/>
          </a:p>
        </p:txBody>
      </p:sp>
      <p:sp>
        <p:nvSpPr>
          <p:cNvPr id="20" name="Preprocessing note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Also dropped: the observation ID and the raw phone number (identifiers), and, deliberately, gender and marital status (see fair-lending slide).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Four models, one clear trade-off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55778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Model takeaways"/>
          <p:cNvSpPr txBox="1"/>
          <p:nvPr/>
        </p:nvSpPr>
        <p:spPr>
          <a:xfrm>
            <a:off x="6126480" y="1280160"/>
            <a:ext cx="2560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Decision Tree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Highest recall but weakest AUC and most good customers rejected.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SVM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Best AUC but misses almost half of defaults at 0.5.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Logistic Regression and Random Forest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Most balanced: good recall, F1 and AUC together.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Logistic Regression is our pick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42976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core caption"/>
          <p:cNvSpPr txBox="1"/>
          <p:nvPr/>
        </p:nvSpPr>
        <p:spPr>
          <a:xfrm>
            <a:off x="45720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8591"/>
                </a:solidFill>
              </a:rPr>
              <a:t>Selection score = average of Recall, F1 and AUC-ROC (5-fold CV, training data).</a:t>
            </a:r>
            <a:endParaRPr lang="en-US" sz="1100" dirty="0"/>
          </a:p>
        </p:txBody>
      </p:sp>
      <p:sp>
        <p:nvSpPr>
          <p:cNvPr id="6" name="Why it wins"/>
          <p:cNvSpPr txBox="1"/>
          <p:nvPr/>
        </p:nvSpPr>
        <p:spPr>
          <a:xfrm>
            <a:off x="457200" y="37033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it wins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Best balance of recall, F1 and AUC in cross-validation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Transparent: each factor has a direction and size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Fast to score and simple to monitor</a:t>
            </a:r>
            <a:endParaRPr lang="en-US" sz="1200" dirty="0"/>
          </a:p>
        </p:txBody>
      </p:sp>
      <p:pic>
        <p:nvPicPr>
          <p:cNvPr id="7" name="ROC chart" descr="ROC curves for the four mode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88720"/>
            <a:ext cx="3749040" cy="3017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approval cut-off is a business choice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949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hreshold caption"/>
          <p:cNvSpPr txBox="1"/>
          <p:nvPr/>
        </p:nvSpPr>
        <p:spPr>
          <a:xfrm>
            <a:off x="5943600" y="114300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Lowering the cut-off catches more defaults but also rejects more good customers.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E6F9E"/>
                </a:solidFill>
              </a:rPr>
              <a:t>Balanced: cut-off 0.44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Best F1 while keeping recall at 80% or more.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1495B"/>
                </a:solidFill>
              </a:rPr>
              <a:t>Strict: cut-off 0.28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Cheapest under assumed costs, but very restrictive.</a:t>
            </a:r>
            <a:endParaRPr lang="en-US" sz="1300" dirty="0"/>
          </a:p>
        </p:txBody>
      </p:sp>
      <p:sp>
        <p:nvSpPr>
          <p:cNvPr id="6" name="Policy card 1"/>
          <p:cNvSpPr/>
          <p:nvPr/>
        </p:nvSpPr>
        <p:spPr>
          <a:xfrm>
            <a:off x="457200" y="3337560"/>
            <a:ext cx="26517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Policy name 1"/>
          <p:cNvSpPr txBox="1"/>
          <p:nvPr/>
        </p:nvSpPr>
        <p:spPr>
          <a:xfrm>
            <a:off x="594360" y="3383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591"/>
                </a:solidFill>
              </a:rPr>
              <a:t>No model</a:t>
            </a:r>
            <a:endParaRPr lang="en-US" sz="1300" dirty="0"/>
          </a:p>
        </p:txBody>
      </p:sp>
      <p:sp>
        <p:nvSpPr>
          <p:cNvPr id="8" name="Policy recall 1"/>
          <p:cNvSpPr txBox="1"/>
          <p:nvPr/>
        </p:nvSpPr>
        <p:spPr>
          <a:xfrm>
            <a:off x="59436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everyone</a:t>
            </a:r>
            <a:endParaRPr lang="en-US" sz="1800" dirty="0"/>
          </a:p>
        </p:txBody>
      </p:sp>
      <p:sp>
        <p:nvSpPr>
          <p:cNvPr id="9" name="Policy detail 1"/>
          <p:cNvSpPr txBox="1"/>
          <p:nvPr/>
        </p:nvSpPr>
        <p:spPr>
          <a:xfrm>
            <a:off x="594360" y="4160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Recall 0%  |  Approved 100%</a:t>
            </a:r>
            <a:endParaRPr lang="en-US" sz="1200" dirty="0"/>
          </a:p>
        </p:txBody>
      </p:sp>
      <p:sp>
        <p:nvSpPr>
          <p:cNvPr id="10" name="Policy card 2"/>
          <p:cNvSpPr/>
          <p:nvPr/>
        </p:nvSpPr>
        <p:spPr>
          <a:xfrm>
            <a:off x="3246120" y="3337560"/>
            <a:ext cx="26517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olicy name 2"/>
          <p:cNvSpPr txBox="1"/>
          <p:nvPr/>
        </p:nvSpPr>
        <p:spPr>
          <a:xfrm>
            <a:off x="3383280" y="3383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F9E"/>
                </a:solidFill>
              </a:rPr>
              <a:t>Balanced (cut-off 0.44), recommended</a:t>
            </a:r>
            <a:endParaRPr lang="en-US" sz="1300" dirty="0"/>
          </a:p>
        </p:txBody>
      </p:sp>
      <p:sp>
        <p:nvSpPr>
          <p:cNvPr id="12" name="Policy recall 2"/>
          <p:cNvSpPr txBox="1"/>
          <p:nvPr/>
        </p:nvSpPr>
        <p:spPr>
          <a:xfrm>
            <a:off x="338328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85%</a:t>
            </a:r>
            <a:endParaRPr lang="en-US" sz="1800" dirty="0"/>
          </a:p>
        </p:txBody>
      </p:sp>
      <p:sp>
        <p:nvSpPr>
          <p:cNvPr id="13" name="Policy detail 2"/>
          <p:cNvSpPr txBox="1"/>
          <p:nvPr/>
        </p:nvSpPr>
        <p:spPr>
          <a:xfrm>
            <a:off x="3383280" y="4160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Approved 40%  |  Good rejected 49%</a:t>
            </a:r>
            <a:endParaRPr lang="en-US" sz="1200" dirty="0"/>
          </a:p>
        </p:txBody>
      </p:sp>
      <p:sp>
        <p:nvSpPr>
          <p:cNvPr id="14" name="Policy card 3"/>
          <p:cNvSpPr/>
          <p:nvPr/>
        </p:nvSpPr>
        <p:spPr>
          <a:xfrm>
            <a:off x="6035040" y="3337560"/>
            <a:ext cx="26517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olicy name 3"/>
          <p:cNvSpPr txBox="1"/>
          <p:nvPr/>
        </p:nvSpPr>
        <p:spPr>
          <a:xfrm>
            <a:off x="6172200" y="3383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495B"/>
                </a:solidFill>
              </a:rPr>
              <a:t>Strict (cut-off 0.28)</a:t>
            </a:r>
            <a:endParaRPr lang="en-US" sz="1300" dirty="0"/>
          </a:p>
        </p:txBody>
      </p:sp>
      <p:sp>
        <p:nvSpPr>
          <p:cNvPr id="16" name="Policy recall 3"/>
          <p:cNvSpPr txBox="1"/>
          <p:nvPr/>
        </p:nvSpPr>
        <p:spPr>
          <a:xfrm>
            <a:off x="617220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98%</a:t>
            </a:r>
            <a:endParaRPr lang="en-US" sz="1800" dirty="0"/>
          </a:p>
        </p:txBody>
      </p:sp>
      <p:sp>
        <p:nvSpPr>
          <p:cNvPr id="17" name="Policy detail 3"/>
          <p:cNvSpPr txBox="1"/>
          <p:nvPr/>
        </p:nvSpPr>
        <p:spPr>
          <a:xfrm>
            <a:off x="6172200" y="4160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Approved 14%  |  Good rejected 81%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Business impact on held-out applicants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42062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rotected card"/>
          <p:cNvSpPr/>
          <p:nvPr/>
        </p:nvSpPr>
        <p:spPr>
          <a:xfrm>
            <a:off x="4846320" y="1234440"/>
            <a:ext cx="38404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rotected value"/>
          <p:cNvSpPr txBox="1"/>
          <p:nvPr/>
        </p:nvSpPr>
        <p:spPr>
          <a:xfrm>
            <a:off x="4983480" y="1325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C9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3200" dirty="0"/>
          </a:p>
        </p:txBody>
      </p:sp>
      <p:sp>
        <p:nvSpPr>
          <p:cNvPr id="7" name="Protected label"/>
          <p:cNvSpPr txBox="1"/>
          <p:nvPr/>
        </p:nvSpPr>
        <p:spPr>
          <a:xfrm>
            <a:off x="4983480" y="17876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defaulted principal avoided (balanced policy)</a:t>
            </a:r>
            <a:endParaRPr lang="en-US" sz="1300" dirty="0"/>
          </a:p>
        </p:txBody>
      </p:sp>
      <p:sp>
        <p:nvSpPr>
          <p:cNvPr id="8" name="Recall card"/>
          <p:cNvSpPr/>
          <p:nvPr/>
        </p:nvSpPr>
        <p:spPr>
          <a:xfrm>
            <a:off x="4846320" y="2377440"/>
            <a:ext cx="38404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ecall value"/>
          <p:cNvSpPr txBox="1"/>
          <p:nvPr/>
        </p:nvSpPr>
        <p:spPr>
          <a:xfrm>
            <a:off x="4983480" y="2468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14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3200" dirty="0"/>
          </a:p>
        </p:txBody>
      </p:sp>
      <p:sp>
        <p:nvSpPr>
          <p:cNvPr id="10" name="Recall label"/>
          <p:cNvSpPr txBox="1"/>
          <p:nvPr/>
        </p:nvSpPr>
        <p:spPr>
          <a:xfrm>
            <a:off x="4983480" y="29306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defaults caught (95% interval 75% to 94%)</a:t>
            </a:r>
            <a:endParaRPr lang="en-US" sz="1300" dirty="0"/>
          </a:p>
        </p:txBody>
      </p:sp>
      <p:sp>
        <p:nvSpPr>
          <p:cNvPr id="11" name="Cost card"/>
          <p:cNvSpPr/>
          <p:nvPr/>
        </p:nvSpPr>
        <p:spPr>
          <a:xfrm>
            <a:off x="4846320" y="3520440"/>
            <a:ext cx="38404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ost value"/>
          <p:cNvSpPr txBox="1"/>
          <p:nvPr/>
        </p:nvSpPr>
        <p:spPr>
          <a:xfrm>
            <a:off x="4983480" y="3611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en-US" sz="3200" dirty="0"/>
          </a:p>
        </p:txBody>
      </p:sp>
      <p:sp>
        <p:nvSpPr>
          <p:cNvPr id="13" name="Cost label"/>
          <p:cNvSpPr txBox="1"/>
          <p:nvPr/>
        </p:nvSpPr>
        <p:spPr>
          <a:xfrm>
            <a:off x="4983480" y="40736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good customers flagged: the cost, softened by manual review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Checking-account status drives risk most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Driver notes"/>
          <p:cNvSpPr txBox="1"/>
          <p:nvPr/>
        </p:nvSpPr>
        <p:spPr>
          <a:xfrm>
            <a:off x="5669280" y="128016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What credit officers should watch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Checking account: 12% default without one vs 42% with 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Long loans carry more risk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Purpose, installment burden and credit history add smaller but real signal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Confirm with the data owner what a missing balance means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Most applications can be decided instantly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44805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Lane card 1"/>
          <p:cNvSpPr/>
          <p:nvPr/>
        </p:nvSpPr>
        <p:spPr>
          <a:xfrm>
            <a:off x="5120640" y="1234440"/>
            <a:ext cx="35661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Lane default 1"/>
          <p:cNvSpPr txBox="1"/>
          <p:nvPr/>
        </p:nvSpPr>
        <p:spPr>
          <a:xfrm>
            <a:off x="5257800" y="1234440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6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11%</a:t>
            </a:r>
            <a:endParaRPr lang="en-US" sz="2600" dirty="0"/>
          </a:p>
        </p:txBody>
      </p:sp>
      <p:sp>
        <p:nvSpPr>
          <p:cNvPr id="7" name="Lane label 1"/>
          <p:cNvSpPr txBox="1"/>
          <p:nvPr/>
        </p:nvSpPr>
        <p:spPr>
          <a:xfrm>
            <a:off x="6400800" y="123444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Auto-approve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actual default rate</a:t>
            </a:r>
            <a:endParaRPr lang="en-US" sz="1400" dirty="0"/>
          </a:p>
        </p:txBody>
      </p:sp>
      <p:sp>
        <p:nvSpPr>
          <p:cNvPr id="8" name="Lane card 2"/>
          <p:cNvSpPr/>
          <p:nvPr/>
        </p:nvSpPr>
        <p:spPr>
          <a:xfrm>
            <a:off x="5120640" y="2148840"/>
            <a:ext cx="35661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Lane default 2"/>
          <p:cNvSpPr txBox="1"/>
          <p:nvPr/>
        </p:nvSpPr>
        <p:spPr>
          <a:xfrm>
            <a:off x="5257800" y="2148840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2600" dirty="0"/>
          </a:p>
        </p:txBody>
      </p:sp>
      <p:sp>
        <p:nvSpPr>
          <p:cNvPr id="10" name="Lane label 2"/>
          <p:cNvSpPr txBox="1"/>
          <p:nvPr/>
        </p:nvSpPr>
        <p:spPr>
          <a:xfrm>
            <a:off x="6400800" y="214884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Manual review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actual default rate</a:t>
            </a:r>
            <a:endParaRPr lang="en-US" sz="1400" dirty="0"/>
          </a:p>
        </p:txBody>
      </p:sp>
      <p:sp>
        <p:nvSpPr>
          <p:cNvPr id="11" name="Lane card 3"/>
          <p:cNvSpPr/>
          <p:nvPr/>
        </p:nvSpPr>
        <p:spPr>
          <a:xfrm>
            <a:off x="5120640" y="3063240"/>
            <a:ext cx="35661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ane default 3"/>
          <p:cNvSpPr txBox="1"/>
          <p:nvPr/>
        </p:nvSpPr>
        <p:spPr>
          <a:xfrm>
            <a:off x="5257800" y="3063240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14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2600" dirty="0"/>
          </a:p>
        </p:txBody>
      </p:sp>
      <p:sp>
        <p:nvSpPr>
          <p:cNvPr id="13" name="Lane label 3"/>
          <p:cNvSpPr txBox="1"/>
          <p:nvPr/>
        </p:nvSpPr>
        <p:spPr>
          <a:xfrm>
            <a:off x="6400800" y="306324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Auto-reject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actual default rate</a:t>
            </a:r>
            <a:endParaRPr lang="en-US" sz="1400" dirty="0"/>
          </a:p>
        </p:txBody>
      </p:sp>
      <p:sp>
        <p:nvSpPr>
          <p:cNvPr id="14" name="Efficiency summary"/>
          <p:cNvSpPr txBox="1"/>
          <p:nvPr/>
        </p:nvSpPr>
        <p:spPr>
          <a:xfrm>
            <a:off x="5120640" y="4023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63.5% decided instantly; only 36.5% need a credit officer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Fair lending: sensitive data is excluded</a:t>
            </a:r>
            <a:endParaRPr lang="en-US" sz="3000" dirty="0"/>
          </a:p>
        </p:txBody>
      </p:sp>
      <p:sp>
        <p:nvSpPr>
          <p:cNvPr id="4" name="AUC card"/>
          <p:cNvSpPr/>
          <p:nvPr/>
        </p:nvSpPr>
        <p:spPr>
          <a:xfrm>
            <a:off x="457200" y="1234440"/>
            <a:ext cx="29260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UC value"/>
          <p:cNvSpPr txBox="1"/>
          <p:nvPr/>
        </p:nvSpPr>
        <p:spPr>
          <a:xfrm>
            <a:off x="594360" y="1325880"/>
            <a:ext cx="26517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6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0.803 vs 0.798</a:t>
            </a:r>
            <a:endParaRPr lang="en-US" sz="3200" dirty="0"/>
          </a:p>
        </p:txBody>
      </p:sp>
      <p:sp>
        <p:nvSpPr>
          <p:cNvPr id="6" name="AUC label"/>
          <p:cNvSpPr txBox="1"/>
          <p:nvPr/>
        </p:nvSpPr>
        <p:spPr>
          <a:xfrm>
            <a:off x="594360" y="1913382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test AUC without vs with gender and marital status</a:t>
            </a:r>
            <a:endParaRPr lang="en-US" sz="1300" dirty="0"/>
          </a:p>
        </p:txBody>
      </p:sp>
      <p:sp>
        <p:nvSpPr>
          <p:cNvPr id="7" name="Fairness approach"/>
          <p:cNvSpPr txBox="1"/>
          <p:nvPr/>
        </p:nvSpPr>
        <p:spPr>
          <a:xfrm>
            <a:off x="457200" y="265176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Our approach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Remove gender and marital status from inputs: no loss of accuracy, lower regulatory risk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Audit false rejections by gender and age on every model refresh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0" y="114300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Recommendations and next steps</a:t>
            </a:r>
            <a:endParaRPr lang="en-US" sz="3000" dirty="0"/>
          </a:p>
        </p:txBody>
      </p:sp>
      <p:sp>
        <p:nvSpPr>
          <p:cNvPr id="4" name="Rec badge 1"/>
          <p:cNvSpPr/>
          <p:nvPr/>
        </p:nvSpPr>
        <p:spPr>
          <a:xfrm>
            <a:off x="457200" y="12618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Rec number 1"/>
          <p:cNvSpPr txBox="1"/>
          <p:nvPr/>
        </p:nvSpPr>
        <p:spPr>
          <a:xfrm>
            <a:off x="45720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Rec text 1"/>
          <p:cNvSpPr txBox="1"/>
          <p:nvPr/>
        </p:nvSpPr>
        <p:spPr>
          <a:xfrm>
            <a:off x="1097280" y="11887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Pilot a three-lane process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Auto-approve the lowest-risk 41%, send the middle band to credit officers, auto-reject only the top-risk band.</a:t>
            </a:r>
            <a:endParaRPr lang="en-US" sz="1500" dirty="0"/>
          </a:p>
        </p:txBody>
      </p:sp>
      <p:sp>
        <p:nvSpPr>
          <p:cNvPr id="7" name="Rec badge 2"/>
          <p:cNvSpPr/>
          <p:nvPr/>
        </p:nvSpPr>
        <p:spPr>
          <a:xfrm>
            <a:off x="457200" y="1965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Rec number 2"/>
          <p:cNvSpPr txBox="1"/>
          <p:nvPr/>
        </p:nvSpPr>
        <p:spPr>
          <a:xfrm>
            <a:off x="4572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Rec text 2"/>
          <p:cNvSpPr txBox="1"/>
          <p:nvPr/>
        </p:nvSpPr>
        <p:spPr>
          <a:xfrm>
            <a:off x="1097280" y="189280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Set the cut-off from your own numbers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Replace our assumed loss and margin with actual recovery rates and margins, then re-run the cut-off analysis.</a:t>
            </a:r>
            <a:endParaRPr lang="en-US" sz="1500" dirty="0"/>
          </a:p>
        </p:txBody>
      </p:sp>
      <p:sp>
        <p:nvSpPr>
          <p:cNvPr id="10" name="Rec badge 3"/>
          <p:cNvSpPr/>
          <p:nvPr/>
        </p:nvSpPr>
        <p:spPr>
          <a:xfrm>
            <a:off x="457200" y="26700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Rec number 3"/>
          <p:cNvSpPr txBox="1"/>
          <p:nvPr/>
        </p:nvSpPr>
        <p:spPr>
          <a:xfrm>
            <a:off x="45720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Rec text 3"/>
          <p:cNvSpPr txBox="1"/>
          <p:nvPr/>
        </p:nvSpPr>
        <p:spPr>
          <a:xfrm>
            <a:off x="1097280" y="2596896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Act on the main risk drivers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Review policy on long loans, installment burden, loan purpose and credit history; confirm what a missing checking balance means.</a:t>
            </a:r>
            <a:endParaRPr lang="en-US" sz="1500" dirty="0"/>
          </a:p>
        </p:txBody>
      </p:sp>
      <p:sp>
        <p:nvSpPr>
          <p:cNvPr id="13" name="Rec badge 4"/>
          <p:cNvSpPr/>
          <p:nvPr/>
        </p:nvSpPr>
        <p:spPr>
          <a:xfrm>
            <a:off x="457200" y="337413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Rec number 4"/>
          <p:cNvSpPr txBox="1"/>
          <p:nvPr/>
        </p:nvSpPr>
        <p:spPr>
          <a:xfrm>
            <a:off x="45720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Rec text 4"/>
          <p:cNvSpPr txBox="1"/>
          <p:nvPr/>
        </p:nvSpPr>
        <p:spPr>
          <a:xfrm>
            <a:off x="1097280" y="3300984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Keep sensitive attributes out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Exclude gender and marital status; audit approvals by group on live decisions.</a:t>
            </a:r>
            <a:endParaRPr lang="en-US" sz="1500" dirty="0"/>
          </a:p>
        </p:txBody>
      </p:sp>
      <p:sp>
        <p:nvSpPr>
          <p:cNvPr id="16" name="Rec badge 5"/>
          <p:cNvSpPr/>
          <p:nvPr/>
        </p:nvSpPr>
        <p:spPr>
          <a:xfrm>
            <a:off x="457200" y="407822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Rec number 5"/>
          <p:cNvSpPr txBox="1"/>
          <p:nvPr/>
        </p:nvSpPr>
        <p:spPr>
          <a:xfrm>
            <a:off x="45720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Rec text 5"/>
          <p:cNvSpPr txBox="1"/>
          <p:nvPr/>
        </p:nvSpPr>
        <p:spPr>
          <a:xfrm>
            <a:off x="1097280" y="400507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Monitor and retrain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Track recall, approval rate and bad-debt ratio monthly; retrain at least yearly.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Assumptions and limitations</a:t>
            </a:r>
            <a:endParaRPr lang="en-US" sz="3000" dirty="0"/>
          </a:p>
        </p:txBody>
      </p:sp>
      <p:sp>
        <p:nvSpPr>
          <p:cNvPr id="4" name="Panel 1"/>
          <p:cNvSpPr/>
          <p:nvPr/>
        </p:nvSpPr>
        <p:spPr>
          <a:xfrm>
            <a:off x="457200" y="1234440"/>
            <a:ext cx="402336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nel marker 1"/>
          <p:cNvSpPr/>
          <p:nvPr/>
        </p:nvSpPr>
        <p:spPr>
          <a:xfrm>
            <a:off x="640080" y="1417320"/>
            <a:ext cx="256032" cy="256032"/>
          </a:xfrm>
          <a:prstGeom prst="ellipse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6" name="Panel title 1"/>
          <p:cNvSpPr txBox="1"/>
          <p:nvPr/>
        </p:nvSpPr>
        <p:spPr>
          <a:xfrm>
            <a:off x="100584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Assumptions we made</a:t>
            </a:r>
            <a:endParaRPr lang="en-US" sz="1600" dirty="0"/>
          </a:p>
        </p:txBody>
      </p:sp>
      <p:sp>
        <p:nvSpPr>
          <p:cNvPr id="7" name="Panel list 1"/>
          <p:cNvSpPr txBox="1"/>
          <p:nvPr/>
        </p:nvSpPr>
        <p:spPr>
          <a:xfrm>
            <a:off x="640080" y="19202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Loss on a default = 100% of principal (per the project brief)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Net margin on a good loan = 10% (not in the data; tested from 5% to 20%)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Recall target of 80% for the balanced policy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missing checking or savings balance means no such account</a:t>
            </a:r>
            <a:endParaRPr lang="en-US" sz="1300" dirty="0"/>
          </a:p>
        </p:txBody>
      </p:sp>
      <p:sp>
        <p:nvSpPr>
          <p:cNvPr id="8" name="Panel 2"/>
          <p:cNvSpPr/>
          <p:nvPr/>
        </p:nvSpPr>
        <p:spPr>
          <a:xfrm>
            <a:off x="4663440" y="1234440"/>
            <a:ext cx="402336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nel marker 2"/>
          <p:cNvSpPr/>
          <p:nvPr/>
        </p:nvSpPr>
        <p:spPr>
          <a:xfrm>
            <a:off x="4846320" y="1417320"/>
            <a:ext cx="256032" cy="256032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0" name="Panel title 2"/>
          <p:cNvSpPr txBox="1"/>
          <p:nvPr/>
        </p:nvSpPr>
        <p:spPr>
          <a:xfrm>
            <a:off x="521208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Limitations to keep in mind</a:t>
            </a:r>
            <a:endParaRPr lang="en-US" sz="1600" dirty="0"/>
          </a:p>
        </p:txBody>
      </p:sp>
      <p:sp>
        <p:nvSpPr>
          <p:cNvPr id="11" name="Panel list 2"/>
          <p:cNvSpPr txBox="1"/>
          <p:nvPr/>
        </p:nvSpPr>
        <p:spPr>
          <a:xfrm>
            <a:off x="4846320" y="19202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Only 1,000 loans; the test set has 200, so results carry wide intervals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Outcomes exist only for approved loans (selection bias)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Column units and meanings should be confirmed with the data owner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Next: gradient boosting, calibration, a champion/challenger pilot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dit Risk">
  <a:themeElements>
    <a:clrScheme name="Credit Risk">
      <a:dk1>
        <a:srgbClr val="1B2433"/>
      </a:dk1>
      <a:lt1>
        <a:srgbClr val="FFFFFF"/>
      </a:lt1>
      <a:dk2>
        <a:srgbClr val="14213D"/>
      </a:dk2>
      <a:lt2>
        <a:srgbClr val="F1F4F8"/>
      </a:lt2>
      <a:accent1>
        <a:srgbClr val="2E6F9E"/>
      </a:accent1>
      <a:accent2>
        <a:srgbClr val="D1495B"/>
      </a:accent2>
      <a:accent3>
        <a:srgbClr val="E9A03B"/>
      </a:accent3>
      <a:accent4>
        <a:srgbClr val="3C9D6E"/>
      </a:accent4>
      <a:accent5>
        <a:srgbClr val="7A8591"/>
      </a:accent5>
      <a:accent6>
        <a:srgbClr val="14213D"/>
      </a:accent6>
      <a:hlink>
        <a:srgbClr val="2E6F9E"/>
      </a:hlink>
      <a:folHlink>
        <a:srgbClr val="7A8591"/>
      </a:folHlink>
    </a:clrScheme>
    <a:fontScheme name="Credit Ri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Risk Prediction &amp; Default Analysis</dc:title>
  <dc:subject>PptxGenJS Presentation</dc:subject>
  <dc:creator>Machine Learning Analyst</dc:creator>
  <cp:lastModifiedBy>Machine Learning Analyst</cp:lastModifiedBy>
  <cp:revision>1</cp:revision>
  <dcterms:created xsi:type="dcterms:W3CDTF">2026-10-20T07:16:16Z</dcterms:created>
  <dcterms:modified xsi:type="dcterms:W3CDTF">2026-10-20T07:16:16Z</dcterms:modified>
</cp:coreProperties>
</file>